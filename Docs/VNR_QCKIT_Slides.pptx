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0E6D2">
              <a:alpha val="9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4EA3FF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49808"/>
            <a:ext cx="402336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VNR-QCKIT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225296"/>
            <a:ext cx="69494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41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Luồng hoạt động</a:t>
            </a:r>
            <a:endParaRPr lang="en-US" sz="4100" dirty="0"/>
          </a:p>
          <a:p>
            <a:pPr algn="l" indent="0" marL="0">
              <a:buNone/>
            </a:pPr>
            <a:r>
              <a:rPr lang="en-US" sz="41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vai trò QC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667512" y="2578608"/>
            <a:ext cx="630936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Từ khởi tạo môi trường → khám phá ứng dụng → mapping Page Object → sinh test → chạy automation → triage kết quả.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67512" y="3447288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FFD166">
              <a:alpha val="94000"/>
            </a:srgbClr>
          </a:solidFill>
          <a:ln w="12700">
            <a:solidFill>
              <a:srgbClr val="FFD166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2376" y="3515868"/>
            <a:ext cx="1307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238"/>
                </a:solidFill>
              </a:rPr>
              <a:t>Google Slides ready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240280" y="3447288"/>
            <a:ext cx="1783080" cy="292608"/>
          </a:xfrm>
          <a:prstGeom prst="roundRect">
            <a:avLst>
              <a:gd name="adj" fmla="val 25000"/>
            </a:avLst>
          </a:prstGeom>
          <a:solidFill>
            <a:srgbClr val="60E6D2">
              <a:alpha val="94000"/>
            </a:srgbClr>
          </a:solidFill>
          <a:ln w="12700">
            <a:solidFill>
              <a:srgbClr val="60E6D2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95144" y="3515868"/>
            <a:ext cx="1673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238"/>
                </a:solidFill>
              </a:rPr>
              <a:t>QC kiểm soát chất lượng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06240" y="3447288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4EA3FF">
              <a:alpha val="94000"/>
            </a:srgbClr>
          </a:solidFill>
          <a:ln w="12700">
            <a:solidFill>
              <a:srgbClr val="4EA3FF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61104" y="3515868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Playwright CLI + MCP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41248" y="4709160"/>
            <a:ext cx="475488" cy="475488"/>
          </a:xfrm>
          <a:prstGeom prst="ellipse">
            <a:avLst/>
          </a:prstGeom>
          <a:solidFill>
            <a:srgbClr val="4EA3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6696" y="4837176"/>
            <a:ext cx="164592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76656" y="5358384"/>
            <a:ext cx="8686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335024" y="4946904"/>
            <a:ext cx="557784" cy="0"/>
          </a:xfrm>
          <a:prstGeom prst="line">
            <a:avLst/>
          </a:prstGeom>
          <a:noFill/>
          <a:ln w="16510">
            <a:solidFill>
              <a:srgbClr val="4C638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920240" y="4709160"/>
            <a:ext cx="475488" cy="475488"/>
          </a:xfrm>
          <a:prstGeom prst="ellipse">
            <a:avLst/>
          </a:prstGeom>
          <a:solidFill>
            <a:srgbClr val="60E6D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075688" y="4837176"/>
            <a:ext cx="164592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755648" y="5358384"/>
            <a:ext cx="8686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414016" y="4946904"/>
            <a:ext cx="557784" cy="0"/>
          </a:xfrm>
          <a:prstGeom prst="line">
            <a:avLst/>
          </a:prstGeom>
          <a:noFill/>
          <a:ln w="16510">
            <a:solidFill>
              <a:srgbClr val="4C6380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2999232" y="4709160"/>
            <a:ext cx="475488" cy="475488"/>
          </a:xfrm>
          <a:prstGeom prst="ellipse">
            <a:avLst/>
          </a:prstGeom>
          <a:solidFill>
            <a:srgbClr val="B794F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54680" y="4837176"/>
            <a:ext cx="164592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834640" y="5358384"/>
            <a:ext cx="8686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93008" y="4946904"/>
            <a:ext cx="557784" cy="0"/>
          </a:xfrm>
          <a:prstGeom prst="line">
            <a:avLst/>
          </a:prstGeom>
          <a:noFill/>
          <a:ln w="16510">
            <a:solidFill>
              <a:srgbClr val="4C6380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078224" y="4709160"/>
            <a:ext cx="475488" cy="47548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33672" y="4837176"/>
            <a:ext cx="164592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2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913632" y="5358384"/>
            <a:ext cx="8686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0" y="4946904"/>
            <a:ext cx="557784" cy="0"/>
          </a:xfrm>
          <a:prstGeom prst="line">
            <a:avLst/>
          </a:prstGeom>
          <a:noFill/>
          <a:ln w="16510">
            <a:solidFill>
              <a:srgbClr val="4C6380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157216" y="4709160"/>
            <a:ext cx="475488" cy="475488"/>
          </a:xfrm>
          <a:prstGeom prst="ellipse">
            <a:avLst/>
          </a:prstGeom>
          <a:solidFill>
            <a:srgbClr val="FF9F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12664" y="4837176"/>
            <a:ext cx="164592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92624" y="5358384"/>
            <a:ext cx="8686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650992" y="4946904"/>
            <a:ext cx="557784" cy="0"/>
          </a:xfrm>
          <a:prstGeom prst="line">
            <a:avLst/>
          </a:prstGeom>
          <a:noFill/>
          <a:ln w="16510">
            <a:solidFill>
              <a:srgbClr val="4C6380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236208" y="4709160"/>
            <a:ext cx="475488" cy="475488"/>
          </a:xfrm>
          <a:prstGeom prst="ellipse">
            <a:avLst/>
          </a:prstGeom>
          <a:solidFill>
            <a:srgbClr val="FF6B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91656" y="4837176"/>
            <a:ext cx="164592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071616" y="5358384"/>
            <a:ext cx="8686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955280" y="4233672"/>
            <a:ext cx="3337560" cy="1399032"/>
          </a:xfrm>
          <a:prstGeom prst="roundRect">
            <a:avLst>
              <a:gd name="adj" fmla="val 5882"/>
            </a:avLst>
          </a:prstGeom>
          <a:solidFill>
            <a:srgbClr val="121E31"/>
          </a:solidFill>
          <a:ln w="13970">
            <a:solidFill>
              <a:srgbClr val="31445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257032" y="4462272"/>
            <a:ext cx="25603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Thông điệp chính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257032" y="4773168"/>
            <a:ext cx="260604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QCKit tự động hóa phần lặp lại. QC vẫn là người quyết định phạm vi, độ phủ, độ tin cậy và kết luận lỗi.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194AA"/>
                </a:solidFill>
              </a:rPr>
              <a:t>VNR-QCKIT • QC Automation Flow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29284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194AA"/>
                </a:solidFill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E6D2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Bản đồ luồng hoạt động QCKit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600200" cy="1005840"/>
          </a:xfrm>
          <a:prstGeom prst="roundRect">
            <a:avLst>
              <a:gd name="adj" fmla="val 8182"/>
            </a:avLst>
          </a:prstGeom>
          <a:solidFill>
            <a:srgbClr val="111D30"/>
          </a:solidFill>
          <a:ln w="13970">
            <a:solidFill>
              <a:srgbClr val="4EA3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71600"/>
            <a:ext cx="118872" cy="1005840"/>
          </a:xfrm>
          <a:prstGeom prst="rect">
            <a:avLst/>
          </a:prstGeom>
          <a:solidFill>
            <a:srgbClr val="4EA3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EA3FF"/>
                </a:solidFill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737360"/>
            <a:ext cx="1143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Khởi tạo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029968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4EA3FF">
              <a:alpha val="94000"/>
            </a:srgbClr>
          </a:solidFill>
          <a:ln w="12700">
            <a:solidFill>
              <a:srgbClr val="4EA3FF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2098548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238"/>
                </a:solidFill>
              </a:rPr>
              <a:t>qc_pre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48840" y="1874520"/>
            <a:ext cx="137160" cy="0"/>
          </a:xfrm>
          <a:prstGeom prst="line">
            <a:avLst/>
          </a:prstGeom>
          <a:noFill/>
          <a:ln w="22860">
            <a:solidFill>
              <a:srgbClr val="6F87A4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331720" y="1371600"/>
            <a:ext cx="1783080" cy="1005840"/>
          </a:xfrm>
          <a:prstGeom prst="roundRect">
            <a:avLst>
              <a:gd name="adj" fmla="val 8182"/>
            </a:avLst>
          </a:prstGeom>
          <a:solidFill>
            <a:srgbClr val="111D30"/>
          </a:solidFill>
          <a:ln w="13970">
            <a:solidFill>
              <a:srgbClr val="60E6D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31720" y="1371600"/>
            <a:ext cx="118872" cy="1005840"/>
          </a:xfrm>
          <a:prstGeom prst="rect">
            <a:avLst/>
          </a:prstGeom>
          <a:solidFill>
            <a:srgbClr val="60E6D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60320" y="149961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E6D2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1737360"/>
            <a:ext cx="1325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Khám phá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560320" y="2029968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60E6D2">
              <a:alpha val="94000"/>
            </a:srgbClr>
          </a:solidFill>
          <a:ln w="12700">
            <a:solidFill>
              <a:srgbClr val="60E6D2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5184" y="2098548"/>
            <a:ext cx="12618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238"/>
                </a:solidFill>
              </a:rPr>
              <a:t>qc_detect_component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160520" y="1874520"/>
            <a:ext cx="137160" cy="0"/>
          </a:xfrm>
          <a:prstGeom prst="line">
            <a:avLst/>
          </a:prstGeom>
          <a:noFill/>
          <a:ln w="22860">
            <a:solidFill>
              <a:srgbClr val="6F87A4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343400" y="1371600"/>
            <a:ext cx="1600200" cy="1005840"/>
          </a:xfrm>
          <a:prstGeom prst="roundRect">
            <a:avLst>
              <a:gd name="adj" fmla="val 8182"/>
            </a:avLst>
          </a:prstGeom>
          <a:solidFill>
            <a:srgbClr val="111D30"/>
          </a:solidFill>
          <a:ln w="13970">
            <a:solidFill>
              <a:srgbClr val="B794F4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43400" y="1371600"/>
            <a:ext cx="118872" cy="1005840"/>
          </a:xfrm>
          <a:prstGeom prst="rect">
            <a:avLst/>
          </a:prstGeom>
          <a:solidFill>
            <a:srgbClr val="B794F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49961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794F4"/>
                </a:solidFill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0" y="1737360"/>
            <a:ext cx="1143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Mapping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0" y="2029968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B794F4">
              <a:alpha val="94000"/>
            </a:srgbClr>
          </a:solidFill>
          <a:ln w="12700">
            <a:solidFill>
              <a:srgbClr val="B794F4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2098548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238"/>
                </a:solidFill>
              </a:rPr>
              <a:t>qc_map_flow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89320" y="1874520"/>
            <a:ext cx="137160" cy="0"/>
          </a:xfrm>
          <a:prstGeom prst="line">
            <a:avLst/>
          </a:prstGeom>
          <a:noFill/>
          <a:ln w="22860">
            <a:solidFill>
              <a:srgbClr val="6F87A4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172200" y="1371600"/>
            <a:ext cx="1600200" cy="1005840"/>
          </a:xfrm>
          <a:prstGeom prst="roundRect">
            <a:avLst>
              <a:gd name="adj" fmla="val 8182"/>
            </a:avLst>
          </a:prstGeom>
          <a:solidFill>
            <a:srgbClr val="111D30"/>
          </a:solidFill>
          <a:ln w="13970">
            <a:solidFill>
              <a:srgbClr val="FFD16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72200" y="1371600"/>
            <a:ext cx="118872" cy="1005840"/>
          </a:xfrm>
          <a:prstGeom prst="rect">
            <a:avLst/>
          </a:prstGeom>
          <a:solidFill>
            <a:srgbClr val="FFD166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149961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1737360"/>
            <a:ext cx="1143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Sinh TC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400800" y="2029968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FFD166">
              <a:alpha val="94000"/>
            </a:srgbClr>
          </a:solidFill>
          <a:ln w="12700">
            <a:solidFill>
              <a:srgbClr val="FFD166">
                <a:alpha val="9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55664" y="2098548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238"/>
                </a:solidFill>
              </a:rPr>
              <a:t>qc_generate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818120" y="1874520"/>
            <a:ext cx="137160" cy="0"/>
          </a:xfrm>
          <a:prstGeom prst="line">
            <a:avLst/>
          </a:prstGeom>
          <a:noFill/>
          <a:ln w="22860">
            <a:solidFill>
              <a:srgbClr val="6F87A4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8001000" y="1371600"/>
            <a:ext cx="1737360" cy="1005840"/>
          </a:xfrm>
          <a:prstGeom prst="roundRect">
            <a:avLst>
              <a:gd name="adj" fmla="val 8182"/>
            </a:avLst>
          </a:prstGeom>
          <a:solidFill>
            <a:srgbClr val="111D30"/>
          </a:solidFill>
          <a:ln w="13970">
            <a:solidFill>
              <a:srgbClr val="FF9F43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001000" y="1371600"/>
            <a:ext cx="118872" cy="1005840"/>
          </a:xfrm>
          <a:prstGeom prst="rect">
            <a:avLst/>
          </a:prstGeom>
          <a:solidFill>
            <a:srgbClr val="FF9F4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0" y="149961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F43"/>
                </a:solidFill>
              </a:rPr>
              <a:t>05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0" y="1737360"/>
            <a:ext cx="128016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Chạy Test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229600" y="2029968"/>
            <a:ext cx="1325880" cy="292608"/>
          </a:xfrm>
          <a:prstGeom prst="roundRect">
            <a:avLst>
              <a:gd name="adj" fmla="val 25000"/>
            </a:avLst>
          </a:prstGeom>
          <a:solidFill>
            <a:srgbClr val="FF9F43">
              <a:alpha val="94000"/>
            </a:srgbClr>
          </a:solidFill>
          <a:ln w="12700">
            <a:solidFill>
              <a:srgbClr val="FF9F43">
                <a:alpha val="9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84464" y="2098548"/>
            <a:ext cx="12161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238"/>
                </a:solidFill>
              </a:rPr>
              <a:t>qc_auto_test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9784080" y="1874520"/>
            <a:ext cx="137160" cy="0"/>
          </a:xfrm>
          <a:prstGeom prst="line">
            <a:avLst/>
          </a:prstGeom>
          <a:noFill/>
          <a:ln w="22860">
            <a:solidFill>
              <a:srgbClr val="6F87A4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9966960" y="1371600"/>
            <a:ext cx="1600200" cy="1005840"/>
          </a:xfrm>
          <a:prstGeom prst="roundRect">
            <a:avLst>
              <a:gd name="adj" fmla="val 8182"/>
            </a:avLst>
          </a:prstGeom>
          <a:solidFill>
            <a:srgbClr val="111D30"/>
          </a:solidFill>
          <a:ln w="1397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966960" y="1371600"/>
            <a:ext cx="118872" cy="1005840"/>
          </a:xfrm>
          <a:prstGeom prst="rect">
            <a:avLst/>
          </a:prstGeom>
          <a:solidFill>
            <a:srgbClr val="FF6B6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195560" y="1499616"/>
            <a:ext cx="320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6B"/>
                </a:solidFill>
              </a:rPr>
              <a:t>06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195560" y="1737360"/>
            <a:ext cx="11430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Triage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10195560" y="2029968"/>
            <a:ext cx="1188720" cy="292608"/>
          </a:xfrm>
          <a:prstGeom prst="roundRect">
            <a:avLst>
              <a:gd name="adj" fmla="val 25000"/>
            </a:avLst>
          </a:prstGeom>
          <a:solidFill>
            <a:srgbClr val="FF6B6B">
              <a:alpha val="94000"/>
            </a:srgbClr>
          </a:solidFill>
          <a:ln w="12700">
            <a:solidFill>
              <a:srgbClr val="FF6B6B">
                <a:alpha val="9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250424" y="2098548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238"/>
                </a:solidFill>
              </a:rPr>
              <a:t>qc_triage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594360" y="2788920"/>
            <a:ext cx="7315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02920" y="3072384"/>
            <a:ext cx="1508760" cy="566928"/>
          </a:xfrm>
          <a:prstGeom prst="roundRect">
            <a:avLst>
              <a:gd name="adj" fmla="val 14516"/>
            </a:avLst>
          </a:prstGeom>
          <a:solidFill>
            <a:srgbClr val="0F1A2C"/>
          </a:solidFill>
          <a:ln w="13970">
            <a:solidFill>
              <a:srgbClr val="2E44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3200400"/>
            <a:ext cx="13258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.env + APP_URL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377440" y="3072384"/>
            <a:ext cx="1508760" cy="566928"/>
          </a:xfrm>
          <a:prstGeom prst="roundRect">
            <a:avLst>
              <a:gd name="adj" fmla="val 14516"/>
            </a:avLst>
          </a:prstGeom>
          <a:solidFill>
            <a:srgbClr val="0F1A2C"/>
          </a:solidFill>
          <a:ln w="13970">
            <a:solidFill>
              <a:srgbClr val="2E44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68880" y="3200400"/>
            <a:ext cx="13258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url-aliases + session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251960" y="3072384"/>
            <a:ext cx="1508760" cy="566928"/>
          </a:xfrm>
          <a:prstGeom prst="roundRect">
            <a:avLst>
              <a:gd name="adj" fmla="val 14516"/>
            </a:avLst>
          </a:prstGeom>
          <a:solidFill>
            <a:srgbClr val="0F1A2C"/>
          </a:solidFill>
          <a:ln w="13970">
            <a:solidFill>
              <a:srgbClr val="2E44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43400" y="3200400"/>
            <a:ext cx="13258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+ rule + flow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126480" y="3072384"/>
            <a:ext cx="1508760" cy="566928"/>
          </a:xfrm>
          <a:prstGeom prst="roundRect">
            <a:avLst>
              <a:gd name="adj" fmla="val 14516"/>
            </a:avLst>
          </a:prstGeom>
          <a:solidFill>
            <a:srgbClr val="0F1A2C"/>
          </a:solidFill>
          <a:ln w="13970">
            <a:solidFill>
              <a:srgbClr val="2E44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17920" y="3200400"/>
            <a:ext cx="13258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spec.md + plan.md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8001000" y="3072384"/>
            <a:ext cx="1508760" cy="566928"/>
          </a:xfrm>
          <a:prstGeom prst="roundRect">
            <a:avLst>
              <a:gd name="adj" fmla="val 14516"/>
            </a:avLst>
          </a:prstGeom>
          <a:solidFill>
            <a:srgbClr val="0F1A2C"/>
          </a:solidFill>
          <a:ln w="13970">
            <a:solidFill>
              <a:srgbClr val="2E44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092440" y="3200400"/>
            <a:ext cx="13258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testcase + datafake + PO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9875520" y="3072384"/>
            <a:ext cx="1508760" cy="566928"/>
          </a:xfrm>
          <a:prstGeom prst="roundRect">
            <a:avLst>
              <a:gd name="adj" fmla="val 14516"/>
            </a:avLst>
          </a:prstGeom>
          <a:solidFill>
            <a:srgbClr val="0F1A2C"/>
          </a:solidFill>
          <a:ln w="13970">
            <a:solidFill>
              <a:srgbClr val="2E445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966960" y="3200400"/>
            <a:ext cx="13258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+ summary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594360" y="3977640"/>
            <a:ext cx="8229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02920" y="4261104"/>
            <a:ext cx="1508760" cy="658368"/>
          </a:xfrm>
          <a:prstGeom prst="roundRect">
            <a:avLst>
              <a:gd name="adj" fmla="val 12500"/>
            </a:avLst>
          </a:prstGeom>
          <a:solidFill>
            <a:srgbClr val="0F1A2C"/>
          </a:solidFill>
          <a:ln w="13970">
            <a:solidFill>
              <a:srgbClr val="2E44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4360" y="4370832"/>
            <a:ext cx="1325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 + BasePage + aliases</a:t>
            </a:r>
            <a:endParaRPr lang="en-US" sz="830" dirty="0"/>
          </a:p>
        </p:txBody>
      </p:sp>
      <p:sp>
        <p:nvSpPr>
          <p:cNvPr id="62" name="Shape 60"/>
          <p:cNvSpPr/>
          <p:nvPr/>
        </p:nvSpPr>
        <p:spPr>
          <a:xfrm>
            <a:off x="2377440" y="4261104"/>
            <a:ext cx="1508760" cy="658368"/>
          </a:xfrm>
          <a:prstGeom prst="roundRect">
            <a:avLst>
              <a:gd name="adj" fmla="val 12500"/>
            </a:avLst>
          </a:prstGeom>
          <a:solidFill>
            <a:srgbClr val="0F1A2C"/>
          </a:solidFill>
          <a:ln w="13970">
            <a:solidFill>
              <a:srgbClr val="2E44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68880" y="4370832"/>
            <a:ext cx="1325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component_*.md + userflow</a:t>
            </a:r>
            <a:endParaRPr lang="en-US" sz="830" dirty="0"/>
          </a:p>
        </p:txBody>
      </p:sp>
      <p:sp>
        <p:nvSpPr>
          <p:cNvPr id="64" name="Shape 62"/>
          <p:cNvSpPr/>
          <p:nvPr/>
        </p:nvSpPr>
        <p:spPr>
          <a:xfrm>
            <a:off x="4251960" y="4261104"/>
            <a:ext cx="1508760" cy="658368"/>
          </a:xfrm>
          <a:prstGeom prst="roundRect">
            <a:avLst>
              <a:gd name="adj" fmla="val 12500"/>
            </a:avLst>
          </a:prstGeom>
          <a:solidFill>
            <a:srgbClr val="0F1A2C"/>
          </a:solidFill>
          <a:ln w="13970">
            <a:solidFill>
              <a:srgbClr val="2E44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43400" y="4370832"/>
            <a:ext cx="1325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Locator.ts + Page.ts</a:t>
            </a:r>
            <a:endParaRPr lang="en-US" sz="830" dirty="0"/>
          </a:p>
        </p:txBody>
      </p:sp>
      <p:sp>
        <p:nvSpPr>
          <p:cNvPr id="66" name="Shape 64"/>
          <p:cNvSpPr/>
          <p:nvPr/>
        </p:nvSpPr>
        <p:spPr>
          <a:xfrm>
            <a:off x="6126480" y="4261104"/>
            <a:ext cx="1508760" cy="658368"/>
          </a:xfrm>
          <a:prstGeom prst="roundRect">
            <a:avLst>
              <a:gd name="adj" fmla="val 12500"/>
            </a:avLst>
          </a:prstGeom>
          <a:solidFill>
            <a:srgbClr val="0F1A2C"/>
          </a:solidFill>
          <a:ln w="13970">
            <a:solidFill>
              <a:srgbClr val="2E44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217920" y="4370832"/>
            <a:ext cx="1325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testcase.md + datafake</a:t>
            </a:r>
            <a:endParaRPr lang="en-US" sz="830" dirty="0"/>
          </a:p>
        </p:txBody>
      </p:sp>
      <p:sp>
        <p:nvSpPr>
          <p:cNvPr id="68" name="Shape 66"/>
          <p:cNvSpPr/>
          <p:nvPr/>
        </p:nvSpPr>
        <p:spPr>
          <a:xfrm>
            <a:off x="8001000" y="4261104"/>
            <a:ext cx="1508760" cy="658368"/>
          </a:xfrm>
          <a:prstGeom prst="roundRect">
            <a:avLst>
              <a:gd name="adj" fmla="val 12500"/>
            </a:avLst>
          </a:prstGeom>
          <a:solidFill>
            <a:srgbClr val="0F1A2C"/>
          </a:solidFill>
          <a:ln w="13970">
            <a:solidFill>
              <a:srgbClr val="2E445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092440" y="4370832"/>
            <a:ext cx="1325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spec.ts + trace + status</a:t>
            </a:r>
            <a:endParaRPr lang="en-US" sz="830" dirty="0"/>
          </a:p>
        </p:txBody>
      </p:sp>
      <p:sp>
        <p:nvSpPr>
          <p:cNvPr id="70" name="Shape 68"/>
          <p:cNvSpPr/>
          <p:nvPr/>
        </p:nvSpPr>
        <p:spPr>
          <a:xfrm>
            <a:off x="9875520" y="4261104"/>
            <a:ext cx="1508760" cy="658368"/>
          </a:xfrm>
          <a:prstGeom prst="roundRect">
            <a:avLst>
              <a:gd name="adj" fmla="val 12500"/>
            </a:avLst>
          </a:prstGeom>
          <a:solidFill>
            <a:srgbClr val="0F1A2C"/>
          </a:solidFill>
          <a:ln w="13970">
            <a:solidFill>
              <a:srgbClr val="2E44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966960" y="4370832"/>
            <a:ext cx="13258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3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/ BUG / INFRA</a:t>
            </a:r>
            <a:endParaRPr lang="en-US" sz="830" dirty="0"/>
          </a:p>
        </p:txBody>
      </p:sp>
      <p:sp>
        <p:nvSpPr>
          <p:cNvPr id="72" name="Shape 70"/>
          <p:cNvSpPr/>
          <p:nvPr/>
        </p:nvSpPr>
        <p:spPr>
          <a:xfrm>
            <a:off x="1005840" y="5486400"/>
            <a:ext cx="10058400" cy="566928"/>
          </a:xfrm>
          <a:prstGeom prst="roundRect">
            <a:avLst>
              <a:gd name="adj" fmla="val 14516"/>
            </a:avLst>
          </a:prstGeom>
          <a:solidFill>
            <a:srgbClr val="2D250C"/>
          </a:solidFill>
          <a:ln w="13970">
            <a:solidFill>
              <a:srgbClr val="FFD16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1188720" y="5669280"/>
            <a:ext cx="14173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 Control Layer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3063240" y="5641848"/>
            <a:ext cx="75438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EC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soát input → review độ phủ → xác minh bằng chứng → phân loại lỗi → cải tiến lại tri thức automation</a:t>
            </a:r>
            <a:endParaRPr lang="en-US" sz="1250" dirty="0"/>
          </a:p>
        </p:txBody>
      </p:sp>
      <p:sp>
        <p:nvSpPr>
          <p:cNvPr id="75" name="Text 73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194AA"/>
                </a:solidFill>
              </a:rPr>
              <a:t>VNR-QCKIT • QC Automation Flow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1129284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194AA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E6D2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 → DISCOVERY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Giai đoạn 1–2: Từ môi trường đến hiểu ứng dụng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94360" y="1234440"/>
            <a:ext cx="5303520" cy="4983480"/>
          </a:xfrm>
          <a:prstGeom prst="roundRect">
            <a:avLst>
              <a:gd name="adj" fmla="val 1651"/>
            </a:avLst>
          </a:prstGeom>
          <a:solidFill>
            <a:srgbClr val="101D30"/>
          </a:solidFill>
          <a:ln w="13970">
            <a:solidFill>
              <a:srgbClr val="4EA3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490472"/>
            <a:ext cx="530352" cy="530352"/>
          </a:xfrm>
          <a:prstGeom prst="ellipse">
            <a:avLst/>
          </a:prstGeom>
          <a:solidFill>
            <a:srgbClr val="4EA3FF">
              <a:alpha val="95000"/>
            </a:srgbClr>
          </a:solidFill>
          <a:ln w="12700">
            <a:solidFill>
              <a:srgbClr val="4EA3FF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50976" y="156362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⚙️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508760" y="1536192"/>
            <a:ext cx="3291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Cài đặt &amp; Khởi tạo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9144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EA3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395728"/>
            <a:ext cx="443484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Chuẩn hóa Playwright, Chromium, BasePage và danh sách URL để automation có nền tảng ổn định.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68680" y="3108960"/>
            <a:ext cx="7315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3383280"/>
            <a:ext cx="2011680" cy="6949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.specify/tests/.env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.env.{ENV} chứa APP_URL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plugin Chromium bundled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54680" y="3108960"/>
            <a:ext cx="7315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46120" y="3383280"/>
            <a:ext cx="21945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playwright.config.ts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global-setup.ts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BasePage.ts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url-aliases.md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14400" y="4892040"/>
            <a:ext cx="731520" cy="292608"/>
          </a:xfrm>
          <a:prstGeom prst="roundRect">
            <a:avLst>
              <a:gd name="adj" fmla="val 25000"/>
            </a:avLst>
          </a:prstGeom>
          <a:solidFill>
            <a:srgbClr val="4EA3FF">
              <a:alpha val="94000"/>
            </a:srgbClr>
          </a:solidFill>
          <a:ln w="12700">
            <a:solidFill>
              <a:srgbClr val="4EA3FF">
                <a:alpha val="9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9264" y="4960620"/>
            <a:ext cx="6217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qc_pre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783080" y="4892040"/>
            <a:ext cx="841248" cy="292608"/>
          </a:xfrm>
          <a:prstGeom prst="roundRect">
            <a:avLst>
              <a:gd name="adj" fmla="val 25000"/>
            </a:avLst>
          </a:prstGeom>
          <a:solidFill>
            <a:srgbClr val="4EA3FF">
              <a:alpha val="94000"/>
            </a:srgbClr>
          </a:solidFill>
          <a:ln w="12700">
            <a:solidFill>
              <a:srgbClr val="4EA3FF">
                <a:alpha val="9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37944" y="496062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qc_setup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761488" y="4892040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4EA3FF">
              <a:alpha val="94000"/>
            </a:srgbClr>
          </a:solidFill>
          <a:ln w="12700">
            <a:solidFill>
              <a:srgbClr val="4EA3FF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16352" y="496062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qc_basepage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68680" y="5504688"/>
            <a:ext cx="4526280" cy="438912"/>
          </a:xfrm>
          <a:prstGeom prst="roundRect">
            <a:avLst>
              <a:gd name="adj" fmla="val 18750"/>
            </a:avLst>
          </a:prstGeom>
          <a:solidFill>
            <a:srgbClr val="2D250C"/>
          </a:solidFill>
          <a:ln w="1397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5650992"/>
            <a:ext cx="411480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EC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QC: xác nhận env, account test, URL và session trước khi crawl.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1234440"/>
            <a:ext cx="5303520" cy="4983480"/>
          </a:xfrm>
          <a:prstGeom prst="roundRect">
            <a:avLst>
              <a:gd name="adj" fmla="val 1651"/>
            </a:avLst>
          </a:prstGeom>
          <a:solidFill>
            <a:srgbClr val="101D30"/>
          </a:solidFill>
          <a:ln w="13970">
            <a:solidFill>
              <a:srgbClr val="60E6D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537960" y="1490472"/>
            <a:ext cx="530352" cy="530352"/>
          </a:xfrm>
          <a:prstGeom prst="ellipse">
            <a:avLst/>
          </a:prstGeom>
          <a:solidFill>
            <a:srgbClr val="60E6D2">
              <a:alpha val="95000"/>
            </a:srgbClr>
          </a:solidFill>
          <a:ln w="12700">
            <a:solidFill>
              <a:srgbClr val="60E6D2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20256" y="156362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🔎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178040" y="1536192"/>
            <a:ext cx="3291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Khám phá Ứng dụng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537960" y="2148840"/>
            <a:ext cx="9144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tiêu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537960" y="2395728"/>
            <a:ext cx="4434840" cy="4023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Crawl DOM, phát hiện component và dựng user flow thực tế theo từng group/alias.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537960" y="3108960"/>
            <a:ext cx="7315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629400" y="3383280"/>
            <a:ext cx="21488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url-aliases.md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component-rule.md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user.json / session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 đang chạy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006840" y="3108960"/>
            <a:ext cx="7315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098280" y="3383280"/>
            <a:ext cx="20574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component_{alias}.md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component-rule.md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userflow-{group}.md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flow-index.md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583680" y="4892040"/>
            <a:ext cx="1554480" cy="292608"/>
          </a:xfrm>
          <a:prstGeom prst="roundRect">
            <a:avLst>
              <a:gd name="adj" fmla="val 25000"/>
            </a:avLst>
          </a:prstGeom>
          <a:solidFill>
            <a:srgbClr val="60E6D2">
              <a:alpha val="94000"/>
            </a:srgbClr>
          </a:solidFill>
          <a:ln w="12700">
            <a:solidFill>
              <a:srgbClr val="60E6D2">
                <a:alpha val="9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38544" y="4960620"/>
            <a:ext cx="1444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238"/>
                </a:solidFill>
              </a:rPr>
              <a:t>qc_detect_component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302752" y="4892040"/>
            <a:ext cx="1417320" cy="292608"/>
          </a:xfrm>
          <a:prstGeom prst="roundRect">
            <a:avLst>
              <a:gd name="adj" fmla="val 25000"/>
            </a:avLst>
          </a:prstGeom>
          <a:solidFill>
            <a:srgbClr val="60E6D2">
              <a:alpha val="94000"/>
            </a:srgbClr>
          </a:solidFill>
          <a:ln w="12700">
            <a:solidFill>
              <a:srgbClr val="60E6D2">
                <a:alpha val="9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57616" y="4960620"/>
            <a:ext cx="13075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238"/>
                </a:solidFill>
              </a:rPr>
              <a:t>qc_component_rule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875520" y="4892040"/>
            <a:ext cx="1051560" cy="292608"/>
          </a:xfrm>
          <a:prstGeom prst="roundRect">
            <a:avLst>
              <a:gd name="adj" fmla="val 25000"/>
            </a:avLst>
          </a:prstGeom>
          <a:solidFill>
            <a:srgbClr val="60E6D2">
              <a:alpha val="94000"/>
            </a:srgbClr>
          </a:solidFill>
          <a:ln w="12700">
            <a:solidFill>
              <a:srgbClr val="60E6D2">
                <a:alpha val="9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30384" y="4960620"/>
            <a:ext cx="9418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238"/>
                </a:solidFill>
              </a:rPr>
              <a:t>qc_user_flow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6537960" y="5504688"/>
            <a:ext cx="4526280" cy="438912"/>
          </a:xfrm>
          <a:prstGeom prst="roundRect">
            <a:avLst>
              <a:gd name="adj" fmla="val 18750"/>
            </a:avLst>
          </a:prstGeom>
          <a:solidFill>
            <a:srgbClr val="2D250C"/>
          </a:solidFill>
          <a:ln w="13970">
            <a:solidFill>
              <a:srgbClr val="FFD16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720840" y="5650992"/>
            <a:ext cx="402336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EC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QC: soát field, action, required, validation và happy path.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194AA"/>
                </a:solidFill>
              </a:rPr>
              <a:t>VNR-QCKIT • QC Automation Flow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29284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194AA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E6D2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OBJECT MAPPING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Giai đoạn 3: Mapping Page Object rõ ràng và tái sử dụng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2514600" cy="4526280"/>
          </a:xfrm>
          <a:prstGeom prst="roundRect">
            <a:avLst>
              <a:gd name="adj" fmla="val 3273"/>
            </a:avLst>
          </a:prstGeom>
          <a:solidFill>
            <a:srgbClr val="101D30"/>
          </a:solidFill>
          <a:ln w="13970">
            <a:solidFill>
              <a:srgbClr val="31445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1664208"/>
            <a:ext cx="19202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Nguồn hiểu biết UI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32688" y="2148840"/>
            <a:ext cx="1627632" cy="292608"/>
          </a:xfrm>
          <a:prstGeom prst="roundRect">
            <a:avLst>
              <a:gd name="adj" fmla="val 25000"/>
            </a:avLst>
          </a:prstGeom>
          <a:solidFill>
            <a:srgbClr val="60E6D2">
              <a:alpha val="94000"/>
            </a:srgbClr>
          </a:solidFill>
          <a:ln w="12700">
            <a:solidFill>
              <a:srgbClr val="60E6D2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217420"/>
            <a:ext cx="15179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238"/>
                </a:solidFill>
              </a:rPr>
              <a:t>component_{alias}.md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32688" y="2715768"/>
            <a:ext cx="1627632" cy="292608"/>
          </a:xfrm>
          <a:prstGeom prst="roundRect">
            <a:avLst>
              <a:gd name="adj" fmla="val 25000"/>
            </a:avLst>
          </a:prstGeom>
          <a:solidFill>
            <a:srgbClr val="B794F4">
              <a:alpha val="94000"/>
            </a:srgbClr>
          </a:solidFill>
          <a:ln w="12700">
            <a:solidFill>
              <a:srgbClr val="B794F4">
                <a:alpha val="9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784348"/>
            <a:ext cx="15179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component-rule.md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32688" y="3282696"/>
            <a:ext cx="1627632" cy="292608"/>
          </a:xfrm>
          <a:prstGeom prst="roundRect">
            <a:avLst>
              <a:gd name="adj" fmla="val 25000"/>
            </a:avLst>
          </a:prstGeom>
          <a:solidFill>
            <a:srgbClr val="60E6D2">
              <a:alpha val="94000"/>
            </a:srgbClr>
          </a:solidFill>
          <a:ln w="12700">
            <a:solidFill>
              <a:srgbClr val="60E6D2">
                <a:alpha val="9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3351276"/>
            <a:ext cx="15179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238"/>
                </a:solidFill>
              </a:rPr>
              <a:t>userflow-{group}.md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932688" y="3849624"/>
            <a:ext cx="1627632" cy="292608"/>
          </a:xfrm>
          <a:prstGeom prst="roundRect">
            <a:avLst>
              <a:gd name="adj" fmla="val 25000"/>
            </a:avLst>
          </a:prstGeom>
          <a:solidFill>
            <a:srgbClr val="B794F4">
              <a:alpha val="94000"/>
            </a:srgbClr>
          </a:solidFill>
          <a:ln w="12700">
            <a:solidFill>
              <a:srgbClr val="B794F4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7552" y="3918204"/>
            <a:ext cx="15179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url-aliases.md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960120" y="4617720"/>
            <a:ext cx="169164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inventory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map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rule map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005072" y="1417320"/>
            <a:ext cx="4160520" cy="4526280"/>
          </a:xfrm>
          <a:prstGeom prst="roundRect">
            <a:avLst>
              <a:gd name="adj" fmla="val 1978"/>
            </a:avLst>
          </a:prstGeom>
          <a:solidFill>
            <a:srgbClr val="13243A"/>
          </a:solidFill>
          <a:ln w="13970">
            <a:solidFill>
              <a:srgbClr val="B794F4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343400" y="1691640"/>
            <a:ext cx="530352" cy="530352"/>
          </a:xfrm>
          <a:prstGeom prst="ellipse">
            <a:avLst/>
          </a:prstGeom>
          <a:solidFill>
            <a:srgbClr val="B794F4">
              <a:alpha val="95000"/>
            </a:srgbClr>
          </a:solidFill>
          <a:ln w="12700">
            <a:solidFill>
              <a:srgbClr val="B794F4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25696" y="176479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🧭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983480" y="1755648"/>
            <a:ext cx="20116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qc_map_flow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462272" y="2450592"/>
            <a:ext cx="30175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Tính locator strategy tối ưu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0" y="2816352"/>
            <a:ext cx="2743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getByLabel / getByRole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3200400"/>
            <a:ext cx="2743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container + hasText(label)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0" y="3584448"/>
            <a:ext cx="2743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formControlName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0" y="3968496"/>
            <a:ext cx="27432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nth-child fallback [TODO]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81728" y="4709160"/>
            <a:ext cx="2743200" cy="475488"/>
          </a:xfrm>
          <a:prstGeom prst="roundRect">
            <a:avLst>
              <a:gd name="adj" fmla="val 17308"/>
            </a:avLst>
          </a:prstGeom>
          <a:solidFill>
            <a:srgbClr val="0B1424"/>
          </a:solidFill>
          <a:ln w="13970">
            <a:solidFill>
              <a:srgbClr val="3144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4864608"/>
            <a:ext cx="228600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Tách locator khỏi action method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869680" y="1417320"/>
            <a:ext cx="2514600" cy="4526280"/>
          </a:xfrm>
          <a:prstGeom prst="roundRect">
            <a:avLst>
              <a:gd name="adj" fmla="val 3273"/>
            </a:avLst>
          </a:prstGeom>
          <a:solidFill>
            <a:srgbClr val="101D30"/>
          </a:solidFill>
          <a:ln w="13970">
            <a:solidFill>
              <a:srgbClr val="6EE7B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25712" y="1664208"/>
            <a:ext cx="19202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EE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dùng cho test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9125712" y="2103120"/>
            <a:ext cx="1783080" cy="292608"/>
          </a:xfrm>
          <a:prstGeom prst="roundRect">
            <a:avLst>
              <a:gd name="adj" fmla="val 25000"/>
            </a:avLst>
          </a:prstGeom>
          <a:solidFill>
            <a:srgbClr val="6EE7B7">
              <a:alpha val="94000"/>
            </a:srgbClr>
          </a:solidFill>
          <a:ln w="12700">
            <a:solidFill>
              <a:srgbClr val="6EE7B7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80576" y="2171700"/>
            <a:ext cx="1673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238"/>
                </a:solidFill>
              </a:rPr>
              <a:t>{Alias}Locator.ts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125712" y="2606040"/>
            <a:ext cx="1783080" cy="292608"/>
          </a:xfrm>
          <a:prstGeom prst="roundRect">
            <a:avLst>
              <a:gd name="adj" fmla="val 25000"/>
            </a:avLst>
          </a:prstGeom>
          <a:solidFill>
            <a:srgbClr val="6EE7B7">
              <a:alpha val="94000"/>
            </a:srgbClr>
          </a:solidFill>
          <a:ln w="12700">
            <a:solidFill>
              <a:srgbClr val="6EE7B7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80576" y="2674620"/>
            <a:ext cx="1673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238"/>
                </a:solidFill>
              </a:rPr>
              <a:t>{Alias}Page.ts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125712" y="3108960"/>
            <a:ext cx="1783080" cy="292608"/>
          </a:xfrm>
          <a:prstGeom prst="roundRect">
            <a:avLst>
              <a:gd name="adj" fmla="val 25000"/>
            </a:avLst>
          </a:prstGeom>
          <a:solidFill>
            <a:srgbClr val="4EA3FF">
              <a:alpha val="94000"/>
            </a:srgbClr>
          </a:solidFill>
          <a:ln w="12700">
            <a:solidFill>
              <a:srgbClr val="4EA3FF">
                <a:alpha val="9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80576" y="3177540"/>
            <a:ext cx="1673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locator-map.md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125712" y="3611880"/>
            <a:ext cx="1783080" cy="292608"/>
          </a:xfrm>
          <a:prstGeom prst="roundRect">
            <a:avLst>
              <a:gd name="adj" fmla="val 25000"/>
            </a:avLst>
          </a:prstGeom>
          <a:solidFill>
            <a:srgbClr val="4EA3FF">
              <a:alpha val="94000"/>
            </a:srgbClr>
          </a:solidFill>
          <a:ln w="12700">
            <a:solidFill>
              <a:srgbClr val="4EA3FF">
                <a:alpha val="9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80576" y="3680460"/>
            <a:ext cx="1673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url-page-map.md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9125712" y="4114800"/>
            <a:ext cx="1783080" cy="292608"/>
          </a:xfrm>
          <a:prstGeom prst="roundRect">
            <a:avLst>
              <a:gd name="adj" fmla="val 25000"/>
            </a:avLst>
          </a:prstGeom>
          <a:solidFill>
            <a:srgbClr val="4EA3FF">
              <a:alpha val="94000"/>
            </a:srgbClr>
          </a:solidFill>
          <a:ln w="12700">
            <a:solidFill>
              <a:srgbClr val="4EA3FF">
                <a:alpha val="9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80576" y="4183380"/>
            <a:ext cx="16733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sub-system-map.json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46120" y="3611880"/>
            <a:ext cx="685800" cy="0"/>
          </a:xfrm>
          <a:prstGeom prst="line">
            <a:avLst/>
          </a:prstGeom>
          <a:noFill/>
          <a:ln w="25400">
            <a:solidFill>
              <a:srgbClr val="60E6D2"/>
            </a:solidFill>
            <a:prstDash val="solid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211312" y="3611880"/>
            <a:ext cx="566928" cy="0"/>
          </a:xfrm>
          <a:prstGeom prst="line">
            <a:avLst/>
          </a:prstGeom>
          <a:noFill/>
          <a:ln w="25400">
            <a:solidFill>
              <a:srgbClr val="6EE7B7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280160" y="5989320"/>
            <a:ext cx="9646920" cy="292608"/>
          </a:xfrm>
          <a:prstGeom prst="roundRect">
            <a:avLst>
              <a:gd name="adj" fmla="val 28125"/>
            </a:avLst>
          </a:prstGeom>
          <a:solidFill>
            <a:srgbClr val="2D250C"/>
          </a:solidFill>
          <a:ln w="13970">
            <a:solidFill>
              <a:srgbClr val="FFD1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508760" y="6080760"/>
            <a:ext cx="914400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EC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 kiểm soát: locator có ổn định không? action có đúng cách người dùng thao tác không? mapping có đúng màn hình của PBI không?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194AA"/>
                </a:solidFill>
              </a:rPr>
              <a:t>VNR-QCKIT • QC Automation Flow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29284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194AA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E6D2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DESIGN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Giai đoạn 4: Sinh test case theo PBI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" y="1261872"/>
            <a:ext cx="2011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Đầu vào bắt buộc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" y="1691640"/>
            <a:ext cx="2514600" cy="749808"/>
          </a:xfrm>
          <a:prstGeom prst="roundRect">
            <a:avLst>
              <a:gd name="adj" fmla="val 10976"/>
            </a:avLst>
          </a:prstGeom>
          <a:solidFill>
            <a:srgbClr val="101D30"/>
          </a:solidFill>
          <a:ln w="13970">
            <a:solidFill>
              <a:srgbClr val="60E6D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847088"/>
            <a:ext cx="16459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spec.md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121408"/>
            <a:ext cx="196596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rules + fields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85800" y="2697480"/>
            <a:ext cx="2514600" cy="749808"/>
          </a:xfrm>
          <a:prstGeom prst="roundRect">
            <a:avLst>
              <a:gd name="adj" fmla="val 10976"/>
            </a:avLst>
          </a:prstGeom>
          <a:solidFill>
            <a:srgbClr val="101D30"/>
          </a:solidFill>
          <a:ln w="13970">
            <a:solidFill>
              <a:srgbClr val="4EA3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60120" y="2852928"/>
            <a:ext cx="16459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plan.md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3127248"/>
            <a:ext cx="196596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+ approach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703320"/>
            <a:ext cx="2514600" cy="749808"/>
          </a:xfrm>
          <a:prstGeom prst="roundRect">
            <a:avLst>
              <a:gd name="adj" fmla="val 10976"/>
            </a:avLst>
          </a:prstGeom>
          <a:solidFill>
            <a:srgbClr val="101D30"/>
          </a:solidFill>
          <a:ln w="13970">
            <a:solidFill>
              <a:srgbClr val="B794F4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0120" y="3858768"/>
            <a:ext cx="16459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userflow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4133088"/>
            <a:ext cx="196596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Happy path thực tế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83280" y="2880360"/>
            <a:ext cx="777240" cy="0"/>
          </a:xfrm>
          <a:prstGeom prst="line">
            <a:avLst/>
          </a:prstGeom>
          <a:noFill/>
          <a:ln w="25400">
            <a:solidFill>
              <a:srgbClr val="60E6D2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343400" y="1554480"/>
            <a:ext cx="3383280" cy="3246120"/>
          </a:xfrm>
          <a:prstGeom prst="roundRect">
            <a:avLst>
              <a:gd name="adj" fmla="val 2535"/>
            </a:avLst>
          </a:prstGeom>
          <a:solidFill>
            <a:srgbClr val="13243A"/>
          </a:solidFill>
          <a:ln w="13970">
            <a:solidFill>
              <a:srgbClr val="FFD16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81728" y="1810512"/>
            <a:ext cx="530352" cy="530352"/>
          </a:xfrm>
          <a:prstGeom prst="ellipse">
            <a:avLst/>
          </a:prstGeom>
          <a:solidFill>
            <a:srgbClr val="FFD166">
              <a:alpha val="95000"/>
            </a:srgbClr>
          </a:solidFill>
          <a:ln w="12700">
            <a:solidFill>
              <a:srgbClr val="FFD166">
                <a:alpha val="6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64024" y="1883664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🧪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321808" y="1874520"/>
            <a:ext cx="18288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qc_generate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709160" y="2606040"/>
            <a:ext cx="260604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Phân tích spec → nhóm test → đánh dấu --uutien → sinh data fake có nghĩa nghiệp vụ.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617720" y="3529584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6EE7B7">
              <a:alpha val="94000"/>
            </a:srgbClr>
          </a:solidFill>
          <a:ln w="12700">
            <a:solidFill>
              <a:srgbClr val="6EE7B7">
                <a:alpha val="9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72584" y="3598164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238"/>
                </a:solidFill>
              </a:rPr>
              <a:t>Happy path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26480" y="3529584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FFD166">
              <a:alpha val="94000"/>
            </a:srgbClr>
          </a:solidFill>
          <a:ln w="12700">
            <a:solidFill>
              <a:srgbClr val="FFD166">
                <a:alpha val="9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81344" y="3598164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238"/>
                </a:solidFill>
              </a:rPr>
              <a:t>Validation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17720" y="3941064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FF9F43">
              <a:alpha val="94000"/>
            </a:srgbClr>
          </a:solidFill>
          <a:ln w="12700">
            <a:solidFill>
              <a:srgbClr val="FF9F43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72584" y="4009644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238"/>
                </a:solidFill>
              </a:rPr>
              <a:t>Business rule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26480" y="3941064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4EA3FF">
              <a:alpha val="94000"/>
            </a:srgbClr>
          </a:solidFill>
          <a:ln w="12700">
            <a:solidFill>
              <a:srgbClr val="4EA3FF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81344" y="4009644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Edge case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17720" y="4352544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4EA3FF">
              <a:alpha val="94000"/>
            </a:srgbClr>
          </a:solidFill>
          <a:ln w="12700">
            <a:solidFill>
              <a:srgbClr val="4EA3FF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72584" y="4421124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Permission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7882128" y="2880360"/>
            <a:ext cx="758952" cy="0"/>
          </a:xfrm>
          <a:prstGeom prst="line">
            <a:avLst/>
          </a:prstGeom>
          <a:noFill/>
          <a:ln w="25400">
            <a:solidFill>
              <a:srgbClr val="6EE7B7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759952" y="1261872"/>
            <a:ext cx="228600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6EE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Đầu ra cho automation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8732520" y="1664208"/>
            <a:ext cx="2560320" cy="566928"/>
          </a:xfrm>
          <a:prstGeom prst="roundRect">
            <a:avLst>
              <a:gd name="adj" fmla="val 14516"/>
            </a:avLst>
          </a:prstGeom>
          <a:solidFill>
            <a:srgbClr val="101D30"/>
          </a:solidFill>
          <a:ln w="13970">
            <a:solidFill>
              <a:srgbClr val="6EE7B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8961120" y="1783080"/>
            <a:ext cx="160020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testcase.md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961120" y="2002536"/>
            <a:ext cx="205740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Mục 4 + trạng thái TC</a:t>
            </a:r>
            <a:endParaRPr lang="en-US" sz="930" dirty="0"/>
          </a:p>
        </p:txBody>
      </p:sp>
      <p:sp>
        <p:nvSpPr>
          <p:cNvPr id="36" name="Shape 34"/>
          <p:cNvSpPr/>
          <p:nvPr/>
        </p:nvSpPr>
        <p:spPr>
          <a:xfrm>
            <a:off x="8732520" y="2468880"/>
            <a:ext cx="2560320" cy="566928"/>
          </a:xfrm>
          <a:prstGeom prst="roundRect">
            <a:avLst>
              <a:gd name="adj" fmla="val 14516"/>
            </a:avLst>
          </a:prstGeom>
          <a:solidFill>
            <a:srgbClr val="101D30"/>
          </a:solidFill>
          <a:ln w="13970">
            <a:solidFill>
              <a:srgbClr val="6EE7B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8961120" y="2587752"/>
            <a:ext cx="160020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datafake.json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8961120" y="2807208"/>
            <a:ext cx="205740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Dữ liệu test theo domain</a:t>
            </a:r>
            <a:endParaRPr lang="en-US" sz="930" dirty="0"/>
          </a:p>
        </p:txBody>
      </p:sp>
      <p:sp>
        <p:nvSpPr>
          <p:cNvPr id="39" name="Shape 37"/>
          <p:cNvSpPr/>
          <p:nvPr/>
        </p:nvSpPr>
        <p:spPr>
          <a:xfrm>
            <a:off x="8732520" y="3273552"/>
            <a:ext cx="2560320" cy="566928"/>
          </a:xfrm>
          <a:prstGeom prst="roundRect">
            <a:avLst>
              <a:gd name="adj" fmla="val 14516"/>
            </a:avLst>
          </a:prstGeom>
          <a:solidFill>
            <a:srgbClr val="101D30"/>
          </a:solidFill>
          <a:ln w="13970">
            <a:solidFill>
              <a:srgbClr val="6EE7B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8961120" y="3392424"/>
            <a:ext cx="160020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knowledge/*.md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961120" y="3611880"/>
            <a:ext cx="205740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 summary + field catalog</a:t>
            </a:r>
            <a:endParaRPr lang="en-US" sz="930" dirty="0"/>
          </a:p>
        </p:txBody>
      </p:sp>
      <p:sp>
        <p:nvSpPr>
          <p:cNvPr id="42" name="Shape 40"/>
          <p:cNvSpPr/>
          <p:nvPr/>
        </p:nvSpPr>
        <p:spPr>
          <a:xfrm>
            <a:off x="8732520" y="4078224"/>
            <a:ext cx="2560320" cy="566928"/>
          </a:xfrm>
          <a:prstGeom prst="roundRect">
            <a:avLst>
              <a:gd name="adj" fmla="val 14516"/>
            </a:avLst>
          </a:prstGeom>
          <a:solidFill>
            <a:srgbClr val="101D30"/>
          </a:solidFill>
          <a:ln w="13970">
            <a:solidFill>
              <a:srgbClr val="6EE7B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8961120" y="4197096"/>
            <a:ext cx="1600200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_IMPACT_INDEX.json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8961120" y="4416552"/>
            <a:ext cx="2057400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ảnh hưởng theo PBI</a:t>
            </a:r>
            <a:endParaRPr lang="en-US" sz="930" dirty="0"/>
          </a:p>
        </p:txBody>
      </p:sp>
      <p:sp>
        <p:nvSpPr>
          <p:cNvPr id="45" name="Shape 43"/>
          <p:cNvSpPr/>
          <p:nvPr/>
        </p:nvSpPr>
        <p:spPr>
          <a:xfrm>
            <a:off x="841248" y="5715000"/>
            <a:ext cx="10515600" cy="658368"/>
          </a:xfrm>
          <a:prstGeom prst="roundRect">
            <a:avLst>
              <a:gd name="adj" fmla="val 12500"/>
            </a:avLst>
          </a:prstGeom>
          <a:solidFill>
            <a:srgbClr val="2D250C"/>
          </a:solidFill>
          <a:ln w="13970">
            <a:solidFill>
              <a:srgbClr val="FFD16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1133856" y="5916168"/>
            <a:ext cx="13258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 quyết định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2514600" y="5907024"/>
            <a:ext cx="80467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FFEC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Độ phủ đủ chưa • TC nào --uutien • Auto hay Manual • dữ liệu test có thực tế không • tiêu chí nào là pass/fail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194AA"/>
                </a:solidFill>
              </a:rPr>
              <a:t>VNR-QCKIT • QC Automation Flow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129284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194AA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E6D2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 ENGINE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Giai đoạn 5: Chạy automation có kiểm soát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85800" y="1234440"/>
            <a:ext cx="2743200" cy="4526280"/>
          </a:xfrm>
          <a:prstGeom prst="roundRect">
            <a:avLst>
              <a:gd name="adj" fmla="val 3000"/>
            </a:avLst>
          </a:prstGeom>
          <a:solidFill>
            <a:srgbClr val="101D30"/>
          </a:solidFill>
          <a:ln w="13970">
            <a:solidFill>
              <a:srgbClr val="FF9F43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508760"/>
            <a:ext cx="530352" cy="530352"/>
          </a:xfrm>
          <a:prstGeom prst="ellipse">
            <a:avLst/>
          </a:prstGeom>
          <a:solidFill>
            <a:srgbClr val="FF9F43">
              <a:alpha val="95000"/>
            </a:srgbClr>
          </a:solidFill>
          <a:ln w="12700">
            <a:solidFill>
              <a:srgbClr val="FF9F43">
                <a:alpha val="6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2416" y="1581912"/>
            <a:ext cx="365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00"/>
                </a:solidFill>
              </a:rPr>
              <a:t>▶️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609344" y="1572768"/>
            <a:ext cx="15544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9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qc_auto_test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2194560"/>
            <a:ext cx="201168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Đọc từng file đúng lúc cần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2496312"/>
            <a:ext cx="2011680" cy="6583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.env → testcase.md → sub-system-map.json → Locator/Page → user.json → datafake.json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3529584"/>
            <a:ext cx="11887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Thứ tự chạy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60120" y="3858768"/>
            <a:ext cx="777240" cy="292608"/>
          </a:xfrm>
          <a:prstGeom prst="roundRect">
            <a:avLst>
              <a:gd name="adj" fmla="val 25000"/>
            </a:avLst>
          </a:prstGeom>
          <a:solidFill>
            <a:srgbClr val="FFD166">
              <a:alpha val="94000"/>
            </a:srgbClr>
          </a:solidFill>
          <a:ln w="12700">
            <a:solidFill>
              <a:srgbClr val="FFD166">
                <a:alpha val="9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14984" y="3927348"/>
            <a:ext cx="6675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238"/>
                </a:solidFill>
              </a:rPr>
              <a:t>--uutien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847088" y="3858768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FF9F43">
              <a:alpha val="94000"/>
            </a:srgbClr>
          </a:solidFill>
          <a:ln w="12700">
            <a:solidFill>
              <a:srgbClr val="FF9F43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01952" y="3927348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238"/>
                </a:solidFill>
              </a:rPr>
              <a:t>p0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2377440" y="3858768"/>
            <a:ext cx="411480" cy="292608"/>
          </a:xfrm>
          <a:prstGeom prst="roundRect">
            <a:avLst>
              <a:gd name="adj" fmla="val 25000"/>
            </a:avLst>
          </a:prstGeom>
          <a:solidFill>
            <a:srgbClr val="FF9F43">
              <a:alpha val="94000"/>
            </a:srgbClr>
          </a:solidFill>
          <a:ln w="12700">
            <a:solidFill>
              <a:srgbClr val="FF9F43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32304" y="3927348"/>
            <a:ext cx="30175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238"/>
                </a:solidFill>
              </a:rPr>
              <a:t>p1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60120" y="4352544"/>
            <a:ext cx="2011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Nếu --uutien fail → dừng batch.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977640" y="1234440"/>
            <a:ext cx="4206240" cy="4526280"/>
          </a:xfrm>
          <a:prstGeom prst="roundRect">
            <a:avLst>
              <a:gd name="adj" fmla="val 1957"/>
            </a:avLst>
          </a:prstGeom>
          <a:solidFill>
            <a:srgbClr val="13243A"/>
          </a:solidFill>
          <a:ln w="13970">
            <a:solidFill>
              <a:srgbClr val="4EA3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15968" y="1572768"/>
            <a:ext cx="164592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Phân công tool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4370832" y="2084832"/>
            <a:ext cx="1691640" cy="2240280"/>
          </a:xfrm>
          <a:prstGeom prst="roundRect">
            <a:avLst>
              <a:gd name="adj" fmla="val 4865"/>
            </a:avLst>
          </a:prstGeom>
          <a:solidFill>
            <a:srgbClr val="0E1A2A"/>
          </a:solidFill>
          <a:ln w="13970">
            <a:solidFill>
              <a:srgbClr val="6EE7B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590288" y="2331720"/>
            <a:ext cx="1234440" cy="155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EE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playwright-cli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2697480"/>
            <a:ext cx="13258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Execution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navigate / fill / click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assert / screenshot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trace / storage state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6355080" y="2084832"/>
            <a:ext cx="1417320" cy="2240280"/>
          </a:xfrm>
          <a:prstGeom prst="roundRect">
            <a:avLst>
              <a:gd name="adj" fmla="val 5806"/>
            </a:avLst>
          </a:prstGeom>
          <a:solidFill>
            <a:srgbClr val="0E1A2A"/>
          </a:solidFill>
          <a:ln w="13970">
            <a:solidFill>
              <a:srgbClr val="B794F4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748272" y="2331720"/>
            <a:ext cx="640080" cy="1554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79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556248" y="2697480"/>
            <a:ext cx="105156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 only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selector mới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Kendo combobox</a:t>
            </a:r>
            <a:endParaRPr lang="en-US" sz="960" dirty="0"/>
          </a:p>
          <a:p>
            <a:pPr algn="ctr" indent="0" marL="0">
              <a:buNone/>
            </a:pPr>
            <a:r>
              <a:rPr lang="en-US" sz="96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browser snapshot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6108192" y="3200400"/>
            <a:ext cx="201168" cy="0"/>
          </a:xfrm>
          <a:prstGeom prst="line">
            <a:avLst/>
          </a:prstGeom>
          <a:noFill/>
          <a:ln w="17780">
            <a:solidFill>
              <a:srgbClr val="6F87A4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709160" y="4782312"/>
            <a:ext cx="2926080" cy="420624"/>
          </a:xfrm>
          <a:prstGeom prst="roundRect">
            <a:avLst>
              <a:gd name="adj" fmla="val 19565"/>
            </a:avLst>
          </a:prstGeom>
          <a:solidFill>
            <a:srgbClr val="0B1424"/>
          </a:solidFill>
          <a:ln w="13970">
            <a:solidFill>
              <a:srgbClr val="3144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4928616"/>
            <a:ext cx="2560320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context giữ data giữa các TC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732520" y="1234440"/>
            <a:ext cx="2697480" cy="4526280"/>
          </a:xfrm>
          <a:prstGeom prst="roundRect">
            <a:avLst>
              <a:gd name="adj" fmla="val 3051"/>
            </a:avLst>
          </a:prstGeom>
          <a:solidFill>
            <a:srgbClr val="101D30"/>
          </a:solidFill>
          <a:ln w="13970">
            <a:solidFill>
              <a:srgbClr val="6EE7B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9052560" y="1572768"/>
            <a:ext cx="18288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6EE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Bằng chứng đầu ra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9052560" y="2103120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4EA3FF">
              <a:alpha val="94000"/>
            </a:srgbClr>
          </a:solidFill>
          <a:ln w="12700">
            <a:solidFill>
              <a:srgbClr val="4EA3FF">
                <a:alpha val="9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07424" y="2171700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{PBI_ID}.spec.ts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9052560" y="2542032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4EA3FF">
              <a:alpha val="94000"/>
            </a:srgbClr>
          </a:solidFill>
          <a:ln w="12700">
            <a:solidFill>
              <a:srgbClr val="4EA3FF">
                <a:alpha val="9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07424" y="2610612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{TC_ID}.spec.ts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9052560" y="2980944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FF9F43">
              <a:alpha val="94000"/>
            </a:srgbClr>
          </a:solidFill>
          <a:ln w="12700">
            <a:solidFill>
              <a:srgbClr val="FF9F43">
                <a:alpha val="9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07424" y="3049524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traces/TC.zip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9052560" y="3419856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FF9F43">
              <a:alpha val="94000"/>
            </a:srgbClr>
          </a:solidFill>
          <a:ln w="12700">
            <a:solidFill>
              <a:srgbClr val="FF9F43">
                <a:alpha val="9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07424" y="3488436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screenshots/fail.png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9052560" y="3858768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6EE7B7">
              <a:alpha val="94000"/>
            </a:srgbClr>
          </a:solidFill>
          <a:ln w="12700">
            <a:solidFill>
              <a:srgbClr val="6EE7B7">
                <a:alpha val="9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07424" y="3927348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238"/>
                </a:solidFill>
              </a:rPr>
              <a:t>HISTORY.md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052560" y="4297680"/>
            <a:ext cx="1600200" cy="292608"/>
          </a:xfrm>
          <a:prstGeom prst="roundRect">
            <a:avLst>
              <a:gd name="adj" fmla="val 25000"/>
            </a:avLst>
          </a:prstGeom>
          <a:solidFill>
            <a:srgbClr val="6EE7B7">
              <a:alpha val="94000"/>
            </a:srgbClr>
          </a:solidFill>
          <a:ln w="12700">
            <a:solidFill>
              <a:srgbClr val="6EE7B7">
                <a:alpha val="9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07424" y="4366260"/>
            <a:ext cx="149047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42238"/>
                </a:solidFill>
              </a:rPr>
              <a:t>run-summary.md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777240" y="6080760"/>
            <a:ext cx="10652760" cy="320040"/>
          </a:xfrm>
          <a:prstGeom prst="roundRect">
            <a:avLst>
              <a:gd name="adj" fmla="val 25714"/>
            </a:avLst>
          </a:prstGeom>
          <a:solidFill>
            <a:srgbClr val="2D250C"/>
          </a:solidFill>
          <a:ln w="13970">
            <a:solidFill>
              <a:srgbClr val="FFD1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51560" y="6181344"/>
            <a:ext cx="1005840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EC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 kiểm soát: auth guard, precondition, selector mới, data chaining, assertion chính và bằng chứng trace/screenshot.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194AA"/>
                </a:solidFill>
              </a:rPr>
              <a:t>VNR-QCKIT • QC Automation Flow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1129284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194AA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E6D2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ANALYSIS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Giai đoạn 6: Triage kết quả minh bạch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13232" y="1325880"/>
            <a:ext cx="2148840" cy="914400"/>
          </a:xfrm>
          <a:prstGeom prst="roundRect">
            <a:avLst>
              <a:gd name="adj" fmla="val 9000"/>
            </a:avLst>
          </a:prstGeom>
          <a:solidFill>
            <a:srgbClr val="101D30"/>
          </a:solidFill>
          <a:ln w="13970">
            <a:solidFill>
              <a:srgbClr val="31445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87552" y="1572768"/>
            <a:ext cx="16002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mới nhất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1874520"/>
            <a:ext cx="150876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 + summary + testcase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944368" y="1783080"/>
            <a:ext cx="804672" cy="0"/>
          </a:xfrm>
          <a:prstGeom prst="line">
            <a:avLst/>
          </a:prstGeom>
          <a:noFill/>
          <a:ln w="25400">
            <a:solidFill>
              <a:srgbClr val="4EA3FF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886200" y="1325880"/>
            <a:ext cx="1828800" cy="914400"/>
          </a:xfrm>
          <a:prstGeom prst="roundRect">
            <a:avLst>
              <a:gd name="adj" fmla="val 9000"/>
            </a:avLst>
          </a:prstGeom>
          <a:solidFill>
            <a:srgbClr val="13243A"/>
          </a:solidFill>
          <a:ln w="13970">
            <a:solidFill>
              <a:srgbClr val="4EA3F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79392" y="1572768"/>
            <a:ext cx="10972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 result?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389120" y="1874520"/>
            <a:ext cx="868680" cy="1280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/ FAIL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79008" y="1783080"/>
            <a:ext cx="822960" cy="-301752"/>
          </a:xfrm>
          <a:prstGeom prst="line">
            <a:avLst/>
          </a:prstGeom>
          <a:noFill/>
          <a:ln w="25400">
            <a:solidFill>
              <a:srgbClr val="6EE7B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779008" y="1783080"/>
            <a:ext cx="822960" cy="68580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720840" y="1078992"/>
            <a:ext cx="1874520" cy="786384"/>
          </a:xfrm>
          <a:prstGeom prst="roundRect">
            <a:avLst>
              <a:gd name="adj" fmla="val 10465"/>
            </a:avLst>
          </a:prstGeom>
          <a:solidFill>
            <a:srgbClr val="0E2A20"/>
          </a:solidFill>
          <a:ln w="13970">
            <a:solidFill>
              <a:srgbClr val="6EE7B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96328" y="1307592"/>
            <a:ext cx="9144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EE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 PASS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720840" y="2130552"/>
            <a:ext cx="1874520" cy="786384"/>
          </a:xfrm>
          <a:prstGeom prst="roundRect">
            <a:avLst>
              <a:gd name="adj" fmla="val 10465"/>
            </a:avLst>
          </a:prstGeom>
          <a:solidFill>
            <a:srgbClr val="2B1115"/>
          </a:solidFill>
          <a:ln w="1397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068312" y="2359152"/>
            <a:ext cx="11887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❌ FAILED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668512" y="2523744"/>
            <a:ext cx="731520" cy="-585216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528048" y="1444752"/>
            <a:ext cx="1965960" cy="868680"/>
          </a:xfrm>
          <a:prstGeom prst="roundRect">
            <a:avLst>
              <a:gd name="adj" fmla="val 9474"/>
            </a:avLst>
          </a:prstGeom>
          <a:solidFill>
            <a:srgbClr val="2D250C"/>
          </a:solidFill>
          <a:ln w="13970">
            <a:solidFill>
              <a:srgbClr val="FFD16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802368" y="1673352"/>
            <a:ext cx="141732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Loại trừ INFRA trước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765792" y="1965960"/>
            <a:ext cx="1508760" cy="1097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EC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• network • selector • script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005840" y="3977640"/>
            <a:ext cx="3017520" cy="1143000"/>
          </a:xfrm>
          <a:prstGeom prst="roundRect">
            <a:avLst>
              <a:gd name="adj" fmla="val 7200"/>
            </a:avLst>
          </a:prstGeom>
          <a:solidFill>
            <a:srgbClr val="0E2A20"/>
          </a:solidFill>
          <a:ln w="13970">
            <a:solidFill>
              <a:srgbClr val="6EE7B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298448" y="4315968"/>
            <a:ext cx="1280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6EE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✅ PASS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307592" y="4681728"/>
            <a:ext cx="22860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Assertion green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09160" y="3977640"/>
            <a:ext cx="3017520" cy="1143000"/>
          </a:xfrm>
          <a:prstGeom prst="roundRect">
            <a:avLst>
              <a:gd name="adj" fmla="val 7200"/>
            </a:avLst>
          </a:prstGeom>
          <a:solidFill>
            <a:srgbClr val="2D250C"/>
          </a:solidFill>
          <a:ln w="13970">
            <a:solidFill>
              <a:srgbClr val="FFD16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001768" y="4315968"/>
            <a:ext cx="1280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🔧 INFRA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010912" y="4681728"/>
            <a:ext cx="22860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EC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Session / env / selector / script bug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412480" y="3977640"/>
            <a:ext cx="3017520" cy="1143000"/>
          </a:xfrm>
          <a:prstGeom prst="roundRect">
            <a:avLst>
              <a:gd name="adj" fmla="val 7200"/>
            </a:avLst>
          </a:prstGeom>
          <a:solidFill>
            <a:srgbClr val="2B1115"/>
          </a:solidFill>
          <a:ln w="1397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705088" y="4315968"/>
            <a:ext cx="12801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🐛 APP_BUG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714232" y="4681728"/>
            <a:ext cx="22860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/ business rule / UI sai spec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1874520" y="5596128"/>
            <a:ext cx="8412480" cy="566928"/>
          </a:xfrm>
          <a:prstGeom prst="roundRect">
            <a:avLst>
              <a:gd name="adj" fmla="val 14516"/>
            </a:avLst>
          </a:prstGeom>
          <a:solidFill>
            <a:srgbClr val="101D30"/>
          </a:solidFill>
          <a:ln w="13970">
            <a:solidFill>
              <a:srgbClr val="31445F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2121408" y="5779008"/>
            <a:ext cx="164592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 cho APP_BUG: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794760" y="5779008"/>
            <a:ext cx="32004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• High • Medium • Low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7178040" y="5779008"/>
            <a:ext cx="23774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sinh triage-{PBI_ID}-{DATE}.md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194AA"/>
                </a:solidFill>
              </a:rPr>
              <a:t>VNR-QCKIT • QC Automation Flow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29284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194AA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E6D2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Skill Input / Output Matrix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02920" y="1115568"/>
            <a:ext cx="1417320" cy="365760"/>
          </a:xfrm>
          <a:prstGeom prst="roundRect">
            <a:avLst>
              <a:gd name="adj" fmla="val 22500"/>
            </a:avLst>
          </a:prstGeom>
          <a:solidFill>
            <a:srgbClr val="213A5A"/>
          </a:solidFill>
          <a:ln w="13970">
            <a:solidFill>
              <a:srgbClr val="213A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34440"/>
            <a:ext cx="1234440" cy="822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Skill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48840" y="1115568"/>
            <a:ext cx="2697480" cy="365760"/>
          </a:xfrm>
          <a:prstGeom prst="roundRect">
            <a:avLst>
              <a:gd name="adj" fmla="val 22500"/>
            </a:avLst>
          </a:prstGeom>
          <a:solidFill>
            <a:srgbClr val="213A5A"/>
          </a:solidFill>
          <a:ln w="13970">
            <a:solidFill>
              <a:srgbClr val="213A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1234440"/>
            <a:ext cx="2514600" cy="822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102352" y="1115568"/>
            <a:ext cx="2697480" cy="365760"/>
          </a:xfrm>
          <a:prstGeom prst="roundRect">
            <a:avLst>
              <a:gd name="adj" fmla="val 22500"/>
            </a:avLst>
          </a:prstGeom>
          <a:solidFill>
            <a:srgbClr val="213A5A"/>
          </a:solidFill>
          <a:ln w="13970">
            <a:solidFill>
              <a:srgbClr val="21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93792" y="1234440"/>
            <a:ext cx="2514600" cy="822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028432" y="1115568"/>
            <a:ext cx="3639312" cy="365760"/>
          </a:xfrm>
          <a:prstGeom prst="roundRect">
            <a:avLst>
              <a:gd name="adj" fmla="val 22500"/>
            </a:avLst>
          </a:prstGeom>
          <a:solidFill>
            <a:srgbClr val="213A5A"/>
          </a:solidFill>
          <a:ln w="13970">
            <a:solidFill>
              <a:srgbClr val="21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9872" y="1234440"/>
            <a:ext cx="3456432" cy="822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 focus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1591056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101D30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746504"/>
            <a:ext cx="1234440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qc_pre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148840" y="1591056"/>
            <a:ext cx="2697480" cy="457200"/>
          </a:xfrm>
          <a:prstGeom prst="roundRect">
            <a:avLst>
              <a:gd name="adj" fmla="val 18000"/>
            </a:avLst>
          </a:prstGeom>
          <a:solidFill>
            <a:srgbClr val="101D30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40280" y="1746504"/>
            <a:ext cx="2514600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.env, APP_URL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102352" y="1591056"/>
            <a:ext cx="2697480" cy="457200"/>
          </a:xfrm>
          <a:prstGeom prst="roundRect">
            <a:avLst>
              <a:gd name="adj" fmla="val 18000"/>
            </a:avLst>
          </a:prstGeom>
          <a:solidFill>
            <a:srgbClr val="101D30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1746504"/>
            <a:ext cx="2514600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config, BasePage, aliases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28432" y="1591056"/>
            <a:ext cx="3639312" cy="457200"/>
          </a:xfrm>
          <a:prstGeom prst="roundRect">
            <a:avLst>
              <a:gd name="adj" fmla="val 18000"/>
            </a:avLst>
          </a:prstGeom>
          <a:solidFill>
            <a:srgbClr val="101D30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19872" y="1746504"/>
            <a:ext cx="3456432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Env, account, scope màn hình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2203704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13243A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359152"/>
            <a:ext cx="1234440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qc_detect_component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48840" y="2203704"/>
            <a:ext cx="2697480" cy="457200"/>
          </a:xfrm>
          <a:prstGeom prst="roundRect">
            <a:avLst>
              <a:gd name="adj" fmla="val 18000"/>
            </a:avLst>
          </a:prstGeom>
          <a:solidFill>
            <a:srgbClr val="13243A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40280" y="2359152"/>
            <a:ext cx="2514600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aliases, rules, session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102352" y="2203704"/>
            <a:ext cx="2697480" cy="457200"/>
          </a:xfrm>
          <a:prstGeom prst="roundRect">
            <a:avLst>
              <a:gd name="adj" fmla="val 18000"/>
            </a:avLst>
          </a:prstGeom>
          <a:solidFill>
            <a:srgbClr val="13243A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93792" y="2359152"/>
            <a:ext cx="2514600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component_{alias}.md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028432" y="2203704"/>
            <a:ext cx="3639312" cy="457200"/>
          </a:xfrm>
          <a:prstGeom prst="roundRect">
            <a:avLst>
              <a:gd name="adj" fmla="val 18000"/>
            </a:avLst>
          </a:prstGeom>
          <a:solidFill>
            <a:srgbClr val="13243A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9872" y="2359152"/>
            <a:ext cx="3456432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Field, label, required, unknown input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02920" y="2816352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101D30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2971800"/>
            <a:ext cx="1234440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qc_user_flow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148840" y="2816352"/>
            <a:ext cx="2697480" cy="457200"/>
          </a:xfrm>
          <a:prstGeom prst="roundRect">
            <a:avLst>
              <a:gd name="adj" fmla="val 18000"/>
            </a:avLst>
          </a:prstGeom>
          <a:solidFill>
            <a:srgbClr val="101D30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40280" y="2971800"/>
            <a:ext cx="2514600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aliases, app, session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02352" y="2816352"/>
            <a:ext cx="2697480" cy="457200"/>
          </a:xfrm>
          <a:prstGeom prst="roundRect">
            <a:avLst>
              <a:gd name="adj" fmla="val 18000"/>
            </a:avLst>
          </a:prstGeom>
          <a:solidFill>
            <a:srgbClr val="101D30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93792" y="2971800"/>
            <a:ext cx="2514600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userflow, flow-index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028432" y="2816352"/>
            <a:ext cx="3639312" cy="457200"/>
          </a:xfrm>
          <a:prstGeom prst="roundRect">
            <a:avLst>
              <a:gd name="adj" fmla="val 18000"/>
            </a:avLst>
          </a:prstGeom>
          <a:solidFill>
            <a:srgbClr val="101D30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19872" y="2971800"/>
            <a:ext cx="3456432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Happy path, validation, action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02920" y="3429000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13243A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3584448"/>
            <a:ext cx="1234440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qc_map_flow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148840" y="3429000"/>
            <a:ext cx="2697480" cy="457200"/>
          </a:xfrm>
          <a:prstGeom prst="roundRect">
            <a:avLst>
              <a:gd name="adj" fmla="val 18000"/>
            </a:avLst>
          </a:prstGeom>
          <a:solidFill>
            <a:srgbClr val="13243A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240280" y="3584448"/>
            <a:ext cx="2514600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component, rule, userflow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102352" y="3429000"/>
            <a:ext cx="2697480" cy="457200"/>
          </a:xfrm>
          <a:prstGeom prst="roundRect">
            <a:avLst>
              <a:gd name="adj" fmla="val 18000"/>
            </a:avLst>
          </a:prstGeom>
          <a:solidFill>
            <a:srgbClr val="13243A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93792" y="3584448"/>
            <a:ext cx="2514600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Locator.ts, Page.ts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8028432" y="3429000"/>
            <a:ext cx="3639312" cy="457200"/>
          </a:xfrm>
          <a:prstGeom prst="roundRect">
            <a:avLst>
              <a:gd name="adj" fmla="val 18000"/>
            </a:avLst>
          </a:prstGeom>
          <a:solidFill>
            <a:srgbClr val="13243A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119872" y="3584448"/>
            <a:ext cx="3456432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Locator ổn định, action đúng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02920" y="4041648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101D30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4197096"/>
            <a:ext cx="1234440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qc_generate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2148840" y="4041648"/>
            <a:ext cx="2697480" cy="457200"/>
          </a:xfrm>
          <a:prstGeom prst="roundRect">
            <a:avLst>
              <a:gd name="adj" fmla="val 18000"/>
            </a:avLst>
          </a:prstGeom>
          <a:solidFill>
            <a:srgbClr val="101D30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240280" y="4197096"/>
            <a:ext cx="2514600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spec, plan, userflow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102352" y="4041648"/>
            <a:ext cx="2697480" cy="457200"/>
          </a:xfrm>
          <a:prstGeom prst="roundRect">
            <a:avLst>
              <a:gd name="adj" fmla="val 18000"/>
            </a:avLst>
          </a:prstGeom>
          <a:solidFill>
            <a:srgbClr val="101D30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93792" y="4197096"/>
            <a:ext cx="2514600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testcase, datafake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028432" y="4041648"/>
            <a:ext cx="3639312" cy="457200"/>
          </a:xfrm>
          <a:prstGeom prst="roundRect">
            <a:avLst>
              <a:gd name="adj" fmla="val 18000"/>
            </a:avLst>
          </a:prstGeom>
          <a:solidFill>
            <a:srgbClr val="101D30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19872" y="4197096"/>
            <a:ext cx="3456432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Coverage, priority, Auto/Manual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02920" y="4654296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13243A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4809744"/>
            <a:ext cx="1234440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qc_auto_test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148840" y="4654296"/>
            <a:ext cx="2697480" cy="457200"/>
          </a:xfrm>
          <a:prstGeom prst="roundRect">
            <a:avLst>
              <a:gd name="adj" fmla="val 18000"/>
            </a:avLst>
          </a:prstGeom>
          <a:solidFill>
            <a:srgbClr val="13243A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240280" y="4809744"/>
            <a:ext cx="2514600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TC, PO, session, data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102352" y="4654296"/>
            <a:ext cx="2697480" cy="457200"/>
          </a:xfrm>
          <a:prstGeom prst="roundRect">
            <a:avLst>
              <a:gd name="adj" fmla="val 18000"/>
            </a:avLst>
          </a:prstGeom>
          <a:solidFill>
            <a:srgbClr val="13243A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93792" y="4809744"/>
            <a:ext cx="2514600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spec, trace, history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028432" y="4654296"/>
            <a:ext cx="3639312" cy="457200"/>
          </a:xfrm>
          <a:prstGeom prst="roundRect">
            <a:avLst>
              <a:gd name="adj" fmla="val 18000"/>
            </a:avLst>
          </a:prstGeom>
          <a:solidFill>
            <a:srgbClr val="13243A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119872" y="4809744"/>
            <a:ext cx="3456432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Precondition, assertion, evidence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02920" y="5266944"/>
            <a:ext cx="1417320" cy="457200"/>
          </a:xfrm>
          <a:prstGeom prst="roundRect">
            <a:avLst>
              <a:gd name="adj" fmla="val 18000"/>
            </a:avLst>
          </a:prstGeom>
          <a:solidFill>
            <a:srgbClr val="101D30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4360" y="5422392"/>
            <a:ext cx="1234440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qc_triage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2148840" y="5266944"/>
            <a:ext cx="2697480" cy="457200"/>
          </a:xfrm>
          <a:prstGeom prst="roundRect">
            <a:avLst>
              <a:gd name="adj" fmla="val 18000"/>
            </a:avLst>
          </a:prstGeom>
          <a:solidFill>
            <a:srgbClr val="101D30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240280" y="5422392"/>
            <a:ext cx="2514600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history, summary, TC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102352" y="5266944"/>
            <a:ext cx="2697480" cy="457200"/>
          </a:xfrm>
          <a:prstGeom prst="roundRect">
            <a:avLst>
              <a:gd name="adj" fmla="val 18000"/>
            </a:avLst>
          </a:prstGeom>
          <a:solidFill>
            <a:srgbClr val="101D30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93792" y="5422392"/>
            <a:ext cx="2514600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PASS/APP_BUG/INFRA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8028432" y="5266944"/>
            <a:ext cx="3639312" cy="457200"/>
          </a:xfrm>
          <a:prstGeom prst="roundRect">
            <a:avLst>
              <a:gd name="adj" fmla="val 18000"/>
            </a:avLst>
          </a:prstGeom>
          <a:solidFill>
            <a:srgbClr val="101D30"/>
          </a:solidFill>
          <a:ln w="13970">
            <a:solidFill>
              <a:srgbClr val="25385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119872" y="5422392"/>
            <a:ext cx="3456432" cy="1005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cause, severity, action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777240" y="6126480"/>
            <a:ext cx="10607040" cy="320040"/>
          </a:xfrm>
          <a:prstGeom prst="roundRect">
            <a:avLst>
              <a:gd name="adj" fmla="val 25714"/>
            </a:avLst>
          </a:prstGeom>
          <a:solidFill>
            <a:srgbClr val="2D250C"/>
          </a:solidFill>
          <a:ln w="13970">
            <a:solidFill>
              <a:srgbClr val="FFD16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1051560" y="6236208"/>
            <a:ext cx="996696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EC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Cách đọc: mỗi skill có input rõ ràng, output rõ ràng, và QC cần review trước khi chuyển sang bước sau.</a:t>
            </a:r>
            <a:endParaRPr lang="en-US" sz="1050" dirty="0"/>
          </a:p>
        </p:txBody>
      </p:sp>
      <p:sp>
        <p:nvSpPr>
          <p:cNvPr id="71" name="Text 69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194AA"/>
                </a:solidFill>
              </a:rPr>
              <a:t>VNR-QCKIT • QC Automation Flow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1129284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194AA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0E6D2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743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 CONTROL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475488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3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Vai trò QC: người kiểm soát chất lượng trong vòng lặp AI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4709160" y="1965960"/>
            <a:ext cx="2743200" cy="2743200"/>
          </a:xfrm>
          <a:prstGeom prst="ellipse">
            <a:avLst/>
          </a:prstGeom>
          <a:solidFill>
            <a:srgbClr val="2D250C"/>
          </a:solidFill>
          <a:ln w="25400">
            <a:solidFill>
              <a:srgbClr val="FFD1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32704" y="2633472"/>
            <a:ext cx="8686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D1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358384" y="3246120"/>
            <a:ext cx="13258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EC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EC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234440"/>
            <a:ext cx="2743200" cy="1024128"/>
          </a:xfrm>
          <a:prstGeom prst="roundRect">
            <a:avLst>
              <a:gd name="adj" fmla="val 8036"/>
            </a:avLst>
          </a:prstGeom>
          <a:solidFill>
            <a:srgbClr val="101D30"/>
          </a:solidFill>
          <a:ln w="13970">
            <a:solidFill>
              <a:srgbClr val="60E6D2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1463040"/>
            <a:ext cx="21945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0E6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soát input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1801368"/>
            <a:ext cx="22402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Spec, plan, env, session, data test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8503920" y="1234440"/>
            <a:ext cx="2743200" cy="1024128"/>
          </a:xfrm>
          <a:prstGeom prst="roundRect">
            <a:avLst>
              <a:gd name="adj" fmla="val 8036"/>
            </a:avLst>
          </a:prstGeom>
          <a:solidFill>
            <a:srgbClr val="101D30"/>
          </a:solidFill>
          <a:ln w="13970">
            <a:solidFill>
              <a:srgbClr val="6EE7B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732520" y="1463040"/>
            <a:ext cx="21945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EE7B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soát độ phủ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32520" y="1801368"/>
            <a:ext cx="22402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Happy path, validation, business rule, edge case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914400" y="4663440"/>
            <a:ext cx="2743200" cy="1024128"/>
          </a:xfrm>
          <a:prstGeom prst="roundRect">
            <a:avLst>
              <a:gd name="adj" fmla="val 8036"/>
            </a:avLst>
          </a:prstGeom>
          <a:solidFill>
            <a:srgbClr val="101D30"/>
          </a:solidFill>
          <a:ln w="13970">
            <a:solidFill>
              <a:srgbClr val="FF9F43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143000" y="4892040"/>
            <a:ext cx="21945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9F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Kiểm soát độ tin cậy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5230368"/>
            <a:ext cx="22402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Assertion, trace, screenshot, data chaining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503920" y="4663440"/>
            <a:ext cx="2743200" cy="1024128"/>
          </a:xfrm>
          <a:prstGeom prst="roundRect">
            <a:avLst>
              <a:gd name="adj" fmla="val 8036"/>
            </a:avLst>
          </a:prstGeom>
          <a:solidFill>
            <a:srgbClr val="101D30"/>
          </a:solidFill>
          <a:ln w="13970">
            <a:solidFill>
              <a:srgbClr val="FF6B6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732520" y="4892040"/>
            <a:ext cx="21945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Quyết định phân loại lỗi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732520" y="5230368"/>
            <a:ext cx="22402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B7C6D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/ APP_BUG / INFRA + severity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3767328" y="1783080"/>
            <a:ext cx="941832" cy="822960"/>
          </a:xfrm>
          <a:prstGeom prst="line">
            <a:avLst/>
          </a:prstGeom>
          <a:noFill/>
          <a:ln w="20320">
            <a:solidFill>
              <a:srgbClr val="60E6D2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412480" y="1783080"/>
            <a:ext cx="-960120" cy="822960"/>
          </a:xfrm>
          <a:prstGeom prst="line">
            <a:avLst/>
          </a:prstGeom>
          <a:noFill/>
          <a:ln w="20320">
            <a:solidFill>
              <a:srgbClr val="6EE7B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767328" y="5166360"/>
            <a:ext cx="941832" cy="-1371600"/>
          </a:xfrm>
          <a:prstGeom prst="line">
            <a:avLst/>
          </a:prstGeom>
          <a:noFill/>
          <a:ln w="20320">
            <a:solidFill>
              <a:srgbClr val="FF9F4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412480" y="5166360"/>
            <a:ext cx="-960120" cy="-1371600"/>
          </a:xfrm>
          <a:prstGeom prst="line">
            <a:avLst/>
          </a:prstGeom>
          <a:noFill/>
          <a:ln w="20320">
            <a:solidFill>
              <a:srgbClr val="FF6B6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2240280" y="6181344"/>
            <a:ext cx="7726680" cy="310896"/>
          </a:xfrm>
          <a:prstGeom prst="roundRect">
            <a:avLst>
              <a:gd name="adj" fmla="val 26471"/>
            </a:avLst>
          </a:prstGeom>
          <a:solidFill>
            <a:srgbClr val="13243A"/>
          </a:solidFill>
          <a:ln w="13970">
            <a:solidFill>
              <a:srgbClr val="3144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14600" y="6281928"/>
            <a:ext cx="7178040" cy="731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3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QCKit giúp tăng tốc. QC đảm bảo kết quả đúng nghiệp vụ, có bằng chứng và có thể tin cậy.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194AA"/>
                </a:solidFill>
              </a:rPr>
              <a:t>VNR-QCKIT • QC Automation Flow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92840" y="6446520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8194AA"/>
                </a:solidFill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VNR-QCKIT — Luồng hoạt động và vai trò QC</dc:title>
  <dc:subject>VNR-QCKIT Flow and QC Role</dc:subject>
  <dc:creator>OpenAI</dc:creator>
  <cp:lastModifiedBy>OpenAI</cp:lastModifiedBy>
  <cp:revision>1</cp:revision>
  <dcterms:created xsi:type="dcterms:W3CDTF">2026-06-15T04:42:28Z</dcterms:created>
  <dcterms:modified xsi:type="dcterms:W3CDTF">2026-06-15T04:42:28Z</dcterms:modified>
</cp:coreProperties>
</file>